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Jua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70" orient="horz"/>
        <p:guide pos="5657"/>
        <p:guide pos="103"/>
        <p:guide pos="225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Jua-regular.fnt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5aa1186c2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5aa1186c2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10b39ee97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10b39ee97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10b39ee97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10b39ee97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27e3d251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27e3d251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260b120d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260b120d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0" y="888500"/>
            <a:ext cx="9144000" cy="5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42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 flipH="1">
            <a:off x="7840675" y="4856125"/>
            <a:ext cx="196800" cy="196800"/>
          </a:xfrm>
          <a:prstGeom prst="straightConnector1">
            <a:avLst/>
          </a:prstGeom>
          <a:noFill/>
          <a:ln cap="flat" cmpd="sng" w="9525">
            <a:solidFill>
              <a:srgbClr val="F4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0" y="1487900"/>
            <a:ext cx="9144000" cy="25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0" y="4506575"/>
            <a:ext cx="91440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“편안하게 활용하시고 많이 공유해 주세요. 단, 인용시 반드시 출처를 밝혀 주십시요”</a:t>
            </a:r>
            <a:endParaRPr b="1"/>
          </a:p>
        </p:txBody>
      </p:sp>
      <p:sp>
        <p:nvSpPr>
          <p:cNvPr id="15" name="Google Shape;15;p2"/>
          <p:cNvSpPr txBox="1"/>
          <p:nvPr/>
        </p:nvSpPr>
        <p:spPr>
          <a:xfrm>
            <a:off x="108776" y="4848150"/>
            <a:ext cx="8926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6969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Researched, Written, and Created by {AUTHOR_EN}({EMAIL})</a:t>
            </a:r>
            <a:endParaRPr sz="600">
              <a:solidFill>
                <a:srgbClr val="96969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2056" y="3270463"/>
            <a:ext cx="1622337" cy="3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g pattern 03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673375" y="4506563"/>
            <a:ext cx="76797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“편안하게 활용하시고 많이 공유해 주세요. 단, 인용시 반드시 출처를 밝혀 주십시요”</a:t>
            </a:r>
            <a:endParaRPr b="1"/>
          </a:p>
        </p:txBody>
      </p:sp>
      <p:sp>
        <p:nvSpPr>
          <p:cNvPr id="19" name="Google Shape;19;p3"/>
          <p:cNvSpPr txBox="1"/>
          <p:nvPr/>
        </p:nvSpPr>
        <p:spPr>
          <a:xfrm>
            <a:off x="108776" y="4848150"/>
            <a:ext cx="8926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6969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Researched, Written, and Created by {AUTHOR_EN}({EMAIL})</a:t>
            </a:r>
            <a:endParaRPr sz="600">
              <a:solidFill>
                <a:srgbClr val="96969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01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936000" y="1424750"/>
            <a:ext cx="7679700" cy="31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108000" y="4810125"/>
            <a:ext cx="8926500" cy="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4"/>
          <p:cNvSpPr/>
          <p:nvPr/>
        </p:nvSpPr>
        <p:spPr>
          <a:xfrm>
            <a:off x="697700" y="1454900"/>
            <a:ext cx="26100" cy="25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710800" y="4725450"/>
            <a:ext cx="433200" cy="4179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8784800" y="4870350"/>
            <a:ext cx="359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0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7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08776" y="4848150"/>
            <a:ext cx="8926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6969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Researched, Written, and Created by {AUTHOR_EN}({EMAIL})</a:t>
            </a:r>
            <a:endParaRPr sz="600">
              <a:solidFill>
                <a:srgbClr val="96969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01 1">
  <p:cSld name="TITLE_AND_BODY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108000" y="4810125"/>
            <a:ext cx="8926500" cy="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5"/>
          <p:cNvSpPr/>
          <p:nvPr/>
        </p:nvSpPr>
        <p:spPr>
          <a:xfrm>
            <a:off x="402375" y="434775"/>
            <a:ext cx="26100" cy="25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/>
        </p:nvSpPr>
        <p:spPr>
          <a:xfrm>
            <a:off x="108776" y="4848150"/>
            <a:ext cx="8926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6969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Researched, Written, and Created by {AUTHOR_EN}({EMAIL})</a:t>
            </a:r>
            <a:endParaRPr sz="600">
              <a:solidFill>
                <a:srgbClr val="96969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551550" y="928100"/>
            <a:ext cx="75063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5"/>
          <p:cNvSpPr/>
          <p:nvPr/>
        </p:nvSpPr>
        <p:spPr>
          <a:xfrm flipH="1">
            <a:off x="8710800" y="4725450"/>
            <a:ext cx="433200" cy="4179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8784800" y="4870350"/>
            <a:ext cx="359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0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7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_contents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 flipH="1">
            <a:off x="8710800" y="4725450"/>
            <a:ext cx="433200" cy="4179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108000" y="4810125"/>
            <a:ext cx="8926500" cy="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/>
        </p:nvSpPr>
        <p:spPr>
          <a:xfrm>
            <a:off x="8784800" y="4870350"/>
            <a:ext cx="359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00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7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8" name="Google Shape;38;p6"/>
          <p:cNvCxnSpPr/>
          <p:nvPr/>
        </p:nvCxnSpPr>
        <p:spPr>
          <a:xfrm>
            <a:off x="108750" y="540000"/>
            <a:ext cx="8926500" cy="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6"/>
          <p:cNvSpPr txBox="1"/>
          <p:nvPr>
            <p:ph type="title"/>
          </p:nvPr>
        </p:nvSpPr>
        <p:spPr>
          <a:xfrm>
            <a:off x="162725" y="641800"/>
            <a:ext cx="8818500" cy="6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/>
            </a:lvl9pPr>
          </a:lstStyle>
          <a:p/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162800" y="1455150"/>
            <a:ext cx="8818500" cy="34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b="1" sz="1400" u="sng"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162800" y="264100"/>
            <a:ext cx="5100900" cy="22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4039250" y="264100"/>
            <a:ext cx="4941900" cy="22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7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7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7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7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7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7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700"/>
            </a:lvl9pPr>
          </a:lstStyle>
          <a:p/>
        </p:txBody>
      </p:sp>
      <p:sp>
        <p:nvSpPr>
          <p:cNvPr id="43" name="Google Shape;43;p6"/>
          <p:cNvSpPr txBox="1"/>
          <p:nvPr/>
        </p:nvSpPr>
        <p:spPr>
          <a:xfrm>
            <a:off x="6642337" y="4848158"/>
            <a:ext cx="1419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108776" y="4848150"/>
            <a:ext cx="89265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69696"/>
                </a:solidFill>
                <a:latin typeface="Malgun Gothic"/>
                <a:ea typeface="Malgun Gothic"/>
                <a:cs typeface="Malgun Gothic"/>
                <a:sym typeface="Malgun Gothic"/>
              </a:rPr>
              <a:t>- Researched, Written, and Created by {AUTHOR_EN}({EMAIL})</a:t>
            </a:r>
            <a:endParaRPr sz="600">
              <a:solidFill>
                <a:srgbClr val="96969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0" y="888500"/>
            <a:ext cx="9144000" cy="59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/>
              <a:t> </a:t>
            </a:r>
            <a:endParaRPr sz="3150"/>
          </a:p>
        </p:txBody>
      </p:sp>
      <p:sp>
        <p:nvSpPr>
          <p:cNvPr id="50" name="Google Shape;50;p7"/>
          <p:cNvSpPr txBox="1"/>
          <p:nvPr>
            <p:ph idx="1" type="subTitle"/>
          </p:nvPr>
        </p:nvSpPr>
        <p:spPr>
          <a:xfrm>
            <a:off x="0" y="1487900"/>
            <a:ext cx="9144000" cy="25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[]</a:t>
            </a:r>
            <a:endParaRPr/>
          </a:p>
        </p:txBody>
      </p:sp>
      <p:sp>
        <p:nvSpPr>
          <p:cNvPr id="51" name="Google Shape;51;p7"/>
          <p:cNvSpPr txBox="1"/>
          <p:nvPr/>
        </p:nvSpPr>
        <p:spPr>
          <a:xfrm>
            <a:off x="25" y="3899950"/>
            <a:ext cx="91440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20XX.XX.XX</a:t>
            </a:r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-907" y="5800"/>
            <a:ext cx="2538000" cy="400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[</a:t>
            </a:r>
            <a:r>
              <a:rPr lang="en" sz="2200" u="sng">
                <a:solidFill>
                  <a:srgbClr val="0097A7"/>
                </a:solidFill>
                <a:latin typeface="Jua"/>
                <a:ea typeface="Jua"/>
                <a:cs typeface="Jua"/>
                <a:sym typeface="Jua"/>
              </a:rPr>
              <a:t>신동</a:t>
            </a:r>
            <a:r>
              <a:rPr lang="en" sz="2200" u="sng">
                <a:solidFill>
                  <a:srgbClr val="0097A7"/>
                </a:solidFill>
                <a:latin typeface="Jua"/>
                <a:ea typeface="Jua"/>
                <a:cs typeface="Jua"/>
                <a:sym typeface="Jua"/>
              </a:rPr>
              <a:t>형 인사이트</a:t>
            </a:r>
            <a:r>
              <a:rPr lang="en" sz="22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]</a:t>
            </a:r>
            <a:endParaRPr sz="220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/>
        </p:nvSpPr>
        <p:spPr>
          <a:xfrm>
            <a:off x="507800" y="809925"/>
            <a:ext cx="8294700" cy="3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romanUcPeriod"/>
            </a:pPr>
            <a:r>
              <a:t/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551550" y="450375"/>
            <a:ext cx="5052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Malgun Gothic"/>
                <a:ea typeface="Malgun Gothic"/>
                <a:cs typeface="Malgun Gothic"/>
                <a:sym typeface="Malgun Gothic"/>
              </a:rPr>
              <a:t>INDEX</a:t>
            </a:r>
            <a:endParaRPr b="1" sz="2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936000" y="1424750"/>
            <a:ext cx="7679700" cy="31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I.  </a:t>
            </a:r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936000" y="2068550"/>
            <a:ext cx="38661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633050" y="1847025"/>
            <a:ext cx="7982700" cy="23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1600">
                <a:solidFill>
                  <a:srgbClr val="FF0000"/>
                </a:solidFill>
              </a:rPr>
              <a:t> </a:t>
            </a:r>
            <a:endParaRPr sz="1600">
              <a:solidFill>
                <a:srgbClr val="FF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</a:pPr>
            <a:r>
              <a:rPr lang="en" sz="1600">
                <a:solidFill>
                  <a:srgbClr val="FF0000"/>
                </a:solidFill>
              </a:rPr>
              <a:t> 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162725" y="641800"/>
            <a:ext cx="8818500" cy="6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 txBox="1"/>
          <p:nvPr>
            <p:ph idx="2" type="title"/>
          </p:nvPr>
        </p:nvSpPr>
        <p:spPr>
          <a:xfrm>
            <a:off x="162800" y="1455150"/>
            <a:ext cx="8818500" cy="34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"/>
          <p:cNvSpPr txBox="1"/>
          <p:nvPr>
            <p:ph idx="3" type="title"/>
          </p:nvPr>
        </p:nvSpPr>
        <p:spPr>
          <a:xfrm>
            <a:off x="162800" y="264100"/>
            <a:ext cx="5100900" cy="22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 txBox="1"/>
          <p:nvPr>
            <p:ph idx="1" type="subTitle"/>
          </p:nvPr>
        </p:nvSpPr>
        <p:spPr>
          <a:xfrm>
            <a:off x="4039250" y="264100"/>
            <a:ext cx="4941900" cy="22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"/>
          <p:cNvSpPr txBox="1"/>
          <p:nvPr/>
        </p:nvSpPr>
        <p:spPr>
          <a:xfrm>
            <a:off x="104375" y="4715475"/>
            <a:ext cx="8938800" cy="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※ Source :  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/>
        </p:nvSpPr>
        <p:spPr>
          <a:xfrm>
            <a:off x="35375" y="327650"/>
            <a:ext cx="910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감사합니다.</a:t>
            </a:r>
            <a:endParaRPr sz="3000"/>
          </a:p>
        </p:txBody>
      </p:sp>
      <p:sp>
        <p:nvSpPr>
          <p:cNvPr id="80" name="Google Shape;80;p11"/>
          <p:cNvSpPr txBox="1"/>
          <p:nvPr/>
        </p:nvSpPr>
        <p:spPr>
          <a:xfrm>
            <a:off x="1406675" y="893700"/>
            <a:ext cx="63660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1590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해당 자료는 지속 업데이트하고 공개할 예정입니다.</a:t>
            </a:r>
            <a:endParaRPr sz="1600"/>
          </a:p>
          <a:p>
            <a:pPr indent="-21590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사례로 넣고 싶으신 기업 또는 협업하고픈 기업·기관 환영합니다.</a:t>
            </a:r>
            <a:endParaRPr sz="1600"/>
          </a:p>
          <a:p>
            <a:pPr indent="-21590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보고서 또는 책 출간 및 강연 관련 문의는 언제든 연락 주세요.</a:t>
            </a:r>
            <a:endParaRPr sz="1600"/>
          </a:p>
        </p:txBody>
      </p:sp>
      <p:sp>
        <p:nvSpPr>
          <p:cNvPr id="81" name="Google Shape;81;p11"/>
          <p:cNvSpPr txBox="1"/>
          <p:nvPr/>
        </p:nvSpPr>
        <p:spPr>
          <a:xfrm>
            <a:off x="1406675" y="2540000"/>
            <a:ext cx="6366000" cy="13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{AUTHOR_KR}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{PHONE_KR}</a:t>
            </a:r>
            <a:endParaRPr sz="16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{EMAIL}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